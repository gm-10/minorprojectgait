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37CB7B-E6BD-444F-9411-1156D3C5059B}" v="3" dt="2026-10-25T18:23:51.6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 snapToObjects="1">
      <p:cViewPr>
        <p:scale>
          <a:sx n="68" d="100"/>
          <a:sy n="68" d="100"/>
        </p:scale>
        <p:origin x="424" y="1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65836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00" b="1">
                <a:solidFill>
                  <a:srgbClr val="6EDCD6"/>
                </a:solidFill>
                <a:latin typeface="Aptos"/>
              </a:defRPr>
            </a:pPr>
            <a:r>
              <a:t>COMPUTATIONAL DATA SCIENCE  • 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6492240" cy="1325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From Sensor Readings</a:t>
            </a:r>
            <a:br/>
            <a:r>
              <a:t>to Gait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880360"/>
            <a:ext cx="6035040" cy="7772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900" b="0">
                <a:solidFill>
                  <a:srgbClr val="DAE4EF"/>
                </a:solidFill>
                <a:latin typeface="Aptos"/>
              </a:defRPr>
            </a:pPr>
            <a:r>
              <a:t>Exploratory Computational Analysis of Wearable Inertial Sensor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800600"/>
            <a:ext cx="603504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Grishma Makwana  •  23BIT108</a:t>
            </a:r>
            <a:br/>
            <a:r>
              <a:t>Prerita Shukla  •  23BIT119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0AF9B71-8DE7-E94F-563C-79B3D5356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496" y="-75414"/>
            <a:ext cx="4794503" cy="71878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8755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700" b="1">
                <a:solidFill>
                  <a:srgbClr val="122039"/>
                </a:solidFill>
                <a:latin typeface="Aptos"/>
              </a:defRPr>
            </a:pPr>
            <a:r>
              <a:t>The complete project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0040"/>
            <a:ext cx="1645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00918F"/>
                </a:solidFill>
                <a:latin typeface="Aptos"/>
              </a:defRPr>
            </a:pPr>
            <a:r>
              <a:t>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800" b="0">
                <a:solidFill>
                  <a:srgbClr val="5C6C7E"/>
                </a:solidFill>
                <a:latin typeface="Aptos"/>
              </a:defRPr>
            </a:pPr>
            <a:r>
              <a:t>WEARABLE IMU  •  EXPLORATORY COMPUTATIONAL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0">
                <a:solidFill>
                  <a:srgbClr val="5C6C7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43000"/>
            <a:ext cx="2331720" cy="123444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252728"/>
            <a:ext cx="64008" cy="1014984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289304"/>
            <a:ext cx="201167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122039"/>
                </a:solidFill>
                <a:latin typeface="Aptos"/>
              </a:defRPr>
            </a:pPr>
            <a:r>
              <a:t>01  Hardware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09928"/>
            <a:ext cx="2011679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23042"/>
                </a:solidFill>
                <a:latin typeface="Aptos"/>
              </a:defRPr>
            </a:pPr>
            <a:r>
              <a:t>ESP32 + IMU sensor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143000"/>
            <a:ext cx="2331720" cy="123444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74720" y="1252728"/>
            <a:ext cx="64008" cy="1014984"/>
          </a:xfrm>
          <a:prstGeom prst="rect">
            <a:avLst/>
          </a:prstGeom>
          <a:solidFill>
            <a:srgbClr val="2E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0" y="1289304"/>
            <a:ext cx="201167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122039"/>
                </a:solidFill>
                <a:latin typeface="Aptos"/>
              </a:defRPr>
            </a:pPr>
            <a:r>
              <a:t>02  Acquire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1709928"/>
            <a:ext cx="2011679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23042"/>
                </a:solidFill>
                <a:latin typeface="Aptos"/>
              </a:defRPr>
            </a:pPr>
            <a:r>
              <a:t>Walking trials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143000"/>
            <a:ext cx="2331720" cy="123444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55080" y="1252728"/>
            <a:ext cx="64008" cy="1014984"/>
          </a:xfrm>
          <a:prstGeom prst="rect">
            <a:avLst/>
          </a:prstGeom>
          <a:solidFill>
            <a:srgbClr val="E2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289304"/>
            <a:ext cx="201167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122039"/>
                </a:solidFill>
                <a:latin typeface="Aptos"/>
              </a:defRPr>
            </a:pPr>
            <a:r>
              <a:t>03  Organize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709928"/>
            <a:ext cx="2011679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23042"/>
                </a:solidFill>
                <a:latin typeface="Aptos"/>
              </a:defRPr>
            </a:pPr>
            <a:r>
              <a:t>Timestamped CSV files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143000"/>
            <a:ext cx="2331720" cy="123444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235440" y="1252728"/>
            <a:ext cx="64008" cy="1014984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18319" y="1289304"/>
            <a:ext cx="201167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122039"/>
                </a:solidFill>
                <a:latin typeface="Aptos"/>
              </a:defRPr>
            </a:pPr>
            <a:r>
              <a:t>04  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19" y="1709928"/>
            <a:ext cx="2011679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23042"/>
                </a:solidFill>
                <a:latin typeface="Aptos"/>
              </a:defRPr>
            </a:pPr>
            <a:r>
              <a:t>Quality and timing checks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246120"/>
            <a:ext cx="2331720" cy="123444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4360" y="3355848"/>
            <a:ext cx="64008" cy="1014984"/>
          </a:xfrm>
          <a:prstGeom prst="rect">
            <a:avLst/>
          </a:prstGeom>
          <a:solidFill>
            <a:srgbClr val="2E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3392424"/>
            <a:ext cx="201167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122039"/>
                </a:solidFill>
                <a:latin typeface="Aptos"/>
              </a:defRPr>
            </a:pPr>
            <a:r>
              <a:t>05  Explore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813048"/>
            <a:ext cx="2011679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23042"/>
                </a:solidFill>
                <a:latin typeface="Aptos"/>
              </a:defRPr>
            </a:pPr>
            <a:r>
              <a:t>Visualize six channels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74720" y="3246120"/>
            <a:ext cx="2331720" cy="123444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474720" y="3355848"/>
            <a:ext cx="64008" cy="1014984"/>
          </a:xfrm>
          <a:prstGeom prst="rect">
            <a:avLst/>
          </a:prstGeom>
          <a:solidFill>
            <a:srgbClr val="E2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0" y="3392424"/>
            <a:ext cx="201167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122039"/>
                </a:solidFill>
                <a:latin typeface="Aptos"/>
              </a:defRPr>
            </a:pPr>
            <a:r>
              <a:t>06  Transform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3813048"/>
            <a:ext cx="2011679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23042"/>
                </a:solidFill>
                <a:latin typeface="Aptos"/>
              </a:defRPr>
            </a:pPr>
            <a:r>
              <a:t>Windows and features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3246120"/>
            <a:ext cx="2331720" cy="123444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55080" y="3355848"/>
            <a:ext cx="64008" cy="1014984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37960" y="3392424"/>
            <a:ext cx="201167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122039"/>
                </a:solidFill>
                <a:latin typeface="Aptos"/>
              </a:defRPr>
            </a:pPr>
            <a:r>
              <a:t>07  Compare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3813048"/>
            <a:ext cx="2011679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23042"/>
                </a:solidFill>
                <a:latin typeface="Aptos"/>
              </a:defRPr>
            </a:pPr>
            <a:r>
              <a:t>Paired statistics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35440" y="3246120"/>
            <a:ext cx="2331720" cy="123444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235440" y="3355848"/>
            <a:ext cx="64008" cy="1014984"/>
          </a:xfrm>
          <a:prstGeom prst="rect">
            <a:avLst/>
          </a:prstGeom>
          <a:solidFill>
            <a:srgbClr val="2E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418319" y="3392424"/>
            <a:ext cx="201167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122039"/>
                </a:solidFill>
                <a:latin typeface="Aptos"/>
              </a:defRPr>
            </a:pPr>
            <a:r>
              <a:t>08  Investigate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19" y="3813048"/>
            <a:ext cx="2011679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23042"/>
                </a:solidFill>
                <a:latin typeface="Aptos"/>
              </a:defRPr>
            </a:pPr>
            <a:r>
              <a:t>PCA, clustering, ML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166360"/>
            <a:ext cx="106984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400" b="1">
                <a:solidFill>
                  <a:srgbClr val="2E67AA"/>
                </a:solidFill>
                <a:latin typeface="Aptos"/>
              </a:defRPr>
            </a:pPr>
            <a:r>
              <a:t>OUTPUT: quality reports • feature tables • participant-level comparisons • exploratory visualizations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760720"/>
            <a:ext cx="103327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100" b="0">
                <a:solidFill>
                  <a:srgbClr val="5C6C7E"/>
                </a:solidFill>
                <a:latin typeface="Aptos"/>
              </a:defRPr>
            </a:pPr>
            <a:r>
              <a:t>The goal is a transparent workflow from physical measurement to interpretable evidence—not a clinical diagnosis.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3748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8755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700" b="1">
                <a:solidFill>
                  <a:srgbClr val="122039"/>
                </a:solidFill>
                <a:latin typeface="Aptos"/>
              </a:defRPr>
            </a:pPr>
            <a:r>
              <a:t>Motivation and potential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0040"/>
            <a:ext cx="1645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00918F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800" b="0">
                <a:solidFill>
                  <a:srgbClr val="5C6C7E"/>
                </a:solidFill>
                <a:latin typeface="Aptos"/>
              </a:defRPr>
            </a:pPr>
            <a:r>
              <a:t>WEARABLE IMU  •  EXPLORATORY COMPUTATIONAL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0">
                <a:solidFill>
                  <a:srgbClr val="5C6C7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09928"/>
            <a:ext cx="52120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100" b="1">
                <a:solidFill>
                  <a:srgbClr val="122039"/>
                </a:solidFill>
                <a:latin typeface="Aptos"/>
              </a:defRPr>
            </a:pPr>
            <a:r>
              <a:rPr dirty="0"/>
              <a:t>Why study wearable gait signals?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50008"/>
            <a:ext cx="5120640" cy="2286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0">
                <a:solidFill>
                  <a:srgbClr val="223042"/>
                </a:solidFill>
                <a:latin typeface="Aptos"/>
              </a:defRPr>
            </a:pPr>
            <a:r>
              <a:t>• Raw accelerometer and gyroscope readings are difficult to interpret directly.</a:t>
            </a:r>
            <a:br/>
            <a:br/>
            <a:r>
              <a:t>• Computational methods can summarize movement patterns as numerical features.</a:t>
            </a:r>
            <a:br/>
            <a:br/>
            <a:r>
              <a:t>• Within-person left–right comparisons require careful analysis and uncertainty reporting.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43000"/>
            <a:ext cx="5120640" cy="114300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252728"/>
            <a:ext cx="64008" cy="923544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289304"/>
            <a:ext cx="48006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"/>
              </a:defRPr>
            </a:pPr>
            <a:r>
              <a:t>Movement 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09928"/>
            <a:ext cx="4800600" cy="484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23042"/>
                </a:solidFill>
                <a:latin typeface="Aptos"/>
              </a:defRPr>
            </a:pPr>
            <a:r>
              <a:t>Explore changes in movement signals over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514600"/>
            <a:ext cx="5120640" cy="114300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2624328"/>
            <a:ext cx="64008" cy="923544"/>
          </a:xfrm>
          <a:prstGeom prst="rect">
            <a:avLst/>
          </a:prstGeom>
          <a:solidFill>
            <a:srgbClr val="2E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2660904"/>
            <a:ext cx="48006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"/>
              </a:defRPr>
            </a:pPr>
            <a:r>
              <a:t>Rehabilitation research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081528"/>
            <a:ext cx="4800600" cy="484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23042"/>
                </a:solidFill>
                <a:latin typeface="Aptos"/>
              </a:defRPr>
            </a:pPr>
            <a:r>
              <a:t>Potential support for studying movement consistency—not a validated clinical tool.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886200"/>
            <a:ext cx="5120640" cy="114300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995928"/>
            <a:ext cx="64008" cy="923544"/>
          </a:xfrm>
          <a:prstGeom prst="rect">
            <a:avLst/>
          </a:prstGeom>
          <a:solidFill>
            <a:srgbClr val="E2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4032504"/>
            <a:ext cx="48006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"/>
              </a:defRPr>
            </a:pPr>
            <a:r>
              <a:t>Wearable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453128"/>
            <a:ext cx="4800600" cy="484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23042"/>
                </a:solidFill>
                <a:latin typeface="Aptos"/>
              </a:defRPr>
            </a:pPr>
            <a:r>
              <a:t>A foundation for future sensor-based analysis systems.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15000"/>
            <a:ext cx="1069848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100" b="1">
                <a:solidFill>
                  <a:srgbClr val="B34141"/>
                </a:solidFill>
                <a:latin typeface="Aptos"/>
              </a:defRPr>
            </a:pPr>
            <a:r>
              <a:rPr sz="1400" dirty="0"/>
              <a:t>Scope boundary: this project explores a computational workflow; it does not diagnose gait disorders.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256032"/>
            <a:ext cx="98755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700" b="1">
                <a:solidFill>
                  <a:srgbClr val="122039"/>
                </a:solidFill>
                <a:latin typeface="Aptos"/>
              </a:defRPr>
            </a:pPr>
            <a:r>
              <a:t>Hardware design and sensor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0040"/>
            <a:ext cx="1645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00918F"/>
                </a:solidFill>
                <a:latin typeface="Aptos"/>
              </a:defRPr>
            </a:pPr>
            <a:r>
              <a:t>ACQUISITION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800" b="0">
                <a:solidFill>
                  <a:srgbClr val="5C6C7E"/>
                </a:solidFill>
                <a:latin typeface="Aptos"/>
              </a:defRPr>
            </a:pPr>
            <a:r>
              <a:t>WEARABLE IMU  •  EXPLORATORY COMPUTATIONAL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0">
                <a:solidFill>
                  <a:srgbClr val="5C6C7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834203"/>
            <a:ext cx="3063240" cy="123444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17720" y="1943931"/>
            <a:ext cx="64008" cy="1014984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00600" y="1980507"/>
            <a:ext cx="27432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22039"/>
                </a:solidFill>
                <a:latin typeface="Aptos"/>
              </a:defRPr>
            </a:pPr>
            <a:r>
              <a:rPr dirty="0"/>
              <a:t>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401131"/>
            <a:ext cx="2743200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23042"/>
                </a:solidFill>
                <a:latin typeface="Aptos"/>
              </a:defRPr>
            </a:pPr>
            <a:r>
              <a:t>ESP32 microcontroller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834203"/>
            <a:ext cx="3429000" cy="123444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01000" y="1943931"/>
            <a:ext cx="64008" cy="1014984"/>
          </a:xfrm>
          <a:prstGeom prst="rect">
            <a:avLst/>
          </a:prstGeom>
          <a:solidFill>
            <a:srgbClr val="2E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1980507"/>
            <a:ext cx="31089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22039"/>
                </a:solidFill>
                <a:latin typeface="Aptos"/>
              </a:defRPr>
            </a:pPr>
            <a:r>
              <a:t>Motion sensor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401131"/>
            <a:ext cx="3108960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23042"/>
                </a:solidFill>
                <a:latin typeface="Aptos"/>
              </a:defRPr>
            </a:pPr>
            <a:r>
              <a:t>GY-521 module with MPU6050 IMU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3342963"/>
            <a:ext cx="3063240" cy="123444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617720" y="3452691"/>
            <a:ext cx="64008" cy="1014984"/>
          </a:xfrm>
          <a:prstGeom prst="rect">
            <a:avLst/>
          </a:prstGeom>
          <a:solidFill>
            <a:srgbClr val="E2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3489267"/>
            <a:ext cx="27432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22039"/>
                </a:solidFill>
                <a:latin typeface="Aptos"/>
              </a:defRPr>
            </a:pPr>
            <a:r>
              <a:t>Communication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77740" y="3825031"/>
            <a:ext cx="2743200" cy="66479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200" b="0">
                <a:solidFill>
                  <a:srgbClr val="223042"/>
                </a:solidFill>
                <a:latin typeface="Aptos"/>
              </a:defRPr>
            </a:pPr>
            <a:r>
              <a:rPr dirty="0"/>
              <a:t>I²C </a:t>
            </a:r>
            <a:endParaRPr lang="en-IN" dirty="0"/>
          </a:p>
          <a:p>
            <a:pPr algn="ctr">
              <a:defRPr sz="1200" b="0">
                <a:solidFill>
                  <a:srgbClr val="223042"/>
                </a:solidFill>
                <a:latin typeface="Aptos"/>
              </a:defRPr>
            </a:pPr>
            <a:r>
              <a:rPr dirty="0"/>
              <a:t>SDA GPIO 21 </a:t>
            </a:r>
            <a:endParaRPr lang="en-IN" dirty="0"/>
          </a:p>
          <a:p>
            <a:pPr algn="ctr">
              <a:defRPr sz="1200" b="0">
                <a:solidFill>
                  <a:srgbClr val="223042"/>
                </a:solidFill>
                <a:latin typeface="Aptos"/>
              </a:defRPr>
            </a:pPr>
            <a:r>
              <a:rPr dirty="0"/>
              <a:t>SCL GPIO 22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3342963"/>
            <a:ext cx="3429000" cy="123444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01000" y="3452691"/>
            <a:ext cx="64008" cy="1014984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83879" y="3489267"/>
            <a:ext cx="31089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22039"/>
                </a:solidFill>
                <a:latin typeface="Aptos"/>
              </a:defRPr>
            </a:pPr>
            <a:r>
              <a:t>Configured ranges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3909891"/>
            <a:ext cx="3108960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23042"/>
                </a:solidFill>
                <a:latin typeface="Aptos"/>
              </a:defRPr>
            </a:pPr>
            <a:r>
              <a:rPr dirty="0"/>
              <a:t>Accelerometer ±2 g </a:t>
            </a:r>
            <a:r>
              <a:rPr lang="en-IN" dirty="0"/>
              <a:t>and </a:t>
            </a:r>
            <a:r>
              <a:rPr dirty="0"/>
              <a:t>Gyroscope ±250°/s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5034603"/>
            <a:ext cx="6629400" cy="9144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0">
                <a:solidFill>
                  <a:srgbClr val="223042"/>
                </a:solidFill>
                <a:latin typeface="Aptos"/>
              </a:defRPr>
            </a:pPr>
            <a:r>
              <a:t>The IMU measures acceleration and angular velocity on three axes each, producing six motion-related channels.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CFB3907-4A76-EF60-2CF2-AD090F587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883" y="923332"/>
            <a:ext cx="3854514" cy="51393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8755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700" b="1">
                <a:solidFill>
                  <a:srgbClr val="122039"/>
                </a:solidFill>
                <a:latin typeface="Aptos"/>
              </a:defRPr>
            </a:pPr>
            <a:r>
              <a:t>Data collection: from walking to raw readings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0040"/>
            <a:ext cx="1645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00918F"/>
                </a:solidFill>
                <a:latin typeface="Aptos"/>
              </a:defRPr>
            </a:pPr>
            <a:r>
              <a:t>ACQUISITION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800" b="0">
                <a:solidFill>
                  <a:srgbClr val="5C6C7E"/>
                </a:solidFill>
                <a:latin typeface="Aptos"/>
              </a:defRPr>
            </a:pPr>
            <a:r>
              <a:t>WEARABLE IMU  •  EXPLORATORY COMPUTATIONAL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0">
                <a:solidFill>
                  <a:srgbClr val="5C6C7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97280"/>
            <a:ext cx="3520440" cy="123444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207007"/>
            <a:ext cx="64008" cy="1014984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243584"/>
            <a:ext cx="32004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22039"/>
                </a:solidFill>
                <a:latin typeface="Aptos"/>
              </a:defRPr>
            </a:pPr>
            <a:r>
              <a:t>1. Mount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664207"/>
            <a:ext cx="3200400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23042"/>
                </a:solidFill>
                <a:latin typeface="Aptos"/>
              </a:defRPr>
            </a:pPr>
            <a:r>
              <a:t>Shin below knee; inverted orientation, top facing ground.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097280"/>
            <a:ext cx="3520440" cy="123444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207007"/>
            <a:ext cx="64008" cy="1014984"/>
          </a:xfrm>
          <a:prstGeom prst="rect">
            <a:avLst/>
          </a:prstGeom>
          <a:solidFill>
            <a:srgbClr val="2E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1243584"/>
            <a:ext cx="32004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22039"/>
                </a:solidFill>
                <a:latin typeface="Aptos"/>
              </a:defRPr>
            </a:pPr>
            <a:r>
              <a:t>2. 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1664207"/>
            <a:ext cx="3200400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23042"/>
                </a:solidFill>
                <a:latin typeface="Aptos"/>
              </a:defRPr>
            </a:pPr>
            <a:r>
              <a:t>Barefoot walking on a flat surface; approximately 10 seconds per leg.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097280"/>
            <a:ext cx="3520440" cy="123444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207007"/>
            <a:ext cx="64008" cy="1014984"/>
          </a:xfrm>
          <a:prstGeom prst="rect">
            <a:avLst/>
          </a:prstGeom>
          <a:solidFill>
            <a:srgbClr val="E2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1243584"/>
            <a:ext cx="32004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22039"/>
                </a:solidFill>
                <a:latin typeface="Aptos"/>
              </a:defRPr>
            </a:pPr>
            <a:r>
              <a:t>3. Capture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664207"/>
            <a:ext cx="3200400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23042"/>
                </a:solidFill>
                <a:latin typeface="Aptos"/>
              </a:defRPr>
            </a:pPr>
            <a:r>
              <a:t>Serial Monitor output copied and saved as CSV using Python.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651760"/>
            <a:ext cx="3520440" cy="114300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2761488"/>
            <a:ext cx="64008" cy="923544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59" y="2798064"/>
            <a:ext cx="32004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22039"/>
                </a:solidFill>
                <a:latin typeface="Aptos"/>
              </a:defRPr>
            </a:pPr>
            <a:r>
              <a:t>Sampling interval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3218688"/>
            <a:ext cx="3200400" cy="484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223042"/>
                </a:solidFill>
                <a:latin typeface="Aptos"/>
              </a:defRPr>
            </a:pPr>
            <a:r>
              <a:t>20 ms nominal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2651760"/>
            <a:ext cx="3520440" cy="114300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43400" y="2761488"/>
            <a:ext cx="64008" cy="923544"/>
          </a:xfrm>
          <a:prstGeom prst="rect">
            <a:avLst/>
          </a:prstGeom>
          <a:solidFill>
            <a:srgbClr val="2E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26280" y="2798064"/>
            <a:ext cx="32004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22039"/>
                </a:solidFill>
                <a:latin typeface="Aptos"/>
              </a:defRPr>
            </a:pPr>
            <a:r>
              <a:t>Sampling frequency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218688"/>
            <a:ext cx="3200400" cy="484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223042"/>
                </a:solidFill>
                <a:latin typeface="Aptos"/>
              </a:defRPr>
            </a:pPr>
            <a:r>
              <a:t>50 Hz nominal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2651760"/>
            <a:ext cx="3520440" cy="114300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46720" y="2761488"/>
            <a:ext cx="64008" cy="923544"/>
          </a:xfrm>
          <a:prstGeom prst="rect">
            <a:avLst/>
          </a:prstGeom>
          <a:solidFill>
            <a:srgbClr val="E2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4"/>
            <a:ext cx="32004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22039"/>
                </a:solidFill>
                <a:latin typeface="Aptos"/>
              </a:defRPr>
            </a:pPr>
            <a:r>
              <a:t>Readings per trial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218688"/>
            <a:ext cx="3200400" cy="484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223042"/>
                </a:solidFill>
                <a:latin typeface="Aptos"/>
              </a:defRPr>
            </a:pPr>
            <a:r>
              <a:t>~500 samples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A4394258-E722-A069-1844-1CD6C406F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475" y="3974530"/>
            <a:ext cx="4915153" cy="24385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8755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700" b="1">
                <a:solidFill>
                  <a:srgbClr val="122039"/>
                </a:solidFill>
                <a:latin typeface="Aptos"/>
              </a:defRPr>
            </a:pPr>
            <a:r>
              <a:t>Dataset overview and 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0040"/>
            <a:ext cx="1645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00918F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800" b="0">
                <a:solidFill>
                  <a:srgbClr val="5C6C7E"/>
                </a:solidFill>
                <a:latin typeface="Aptos"/>
              </a:defRPr>
            </a:pPr>
            <a:r>
              <a:t>WEARABLE IMU  •  EXPLORATORY COMPUTATIONAL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0">
                <a:solidFill>
                  <a:srgbClr val="5C6C7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43000"/>
            <a:ext cx="2514600" cy="105156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19" y="1261872"/>
            <a:ext cx="233172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400" b="1">
                <a:solidFill>
                  <a:srgbClr val="00918F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1737360"/>
            <a:ext cx="2331720" cy="28007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100" b="0">
                <a:solidFill>
                  <a:srgbClr val="5C6C7E"/>
                </a:solidFill>
                <a:latin typeface="Aptos"/>
              </a:defRPr>
            </a:pPr>
            <a:r>
              <a:rPr dirty="0"/>
              <a:t>CSV files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1143000"/>
            <a:ext cx="2514600" cy="105156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1879" y="1261872"/>
            <a:ext cx="233172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400" b="1">
                <a:solidFill>
                  <a:srgbClr val="00918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79" y="1737360"/>
            <a:ext cx="2331720" cy="28007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100" b="0">
                <a:solidFill>
                  <a:srgbClr val="5C6C7E"/>
                </a:solidFill>
                <a:latin typeface="Aptos"/>
              </a:defRPr>
            </a:pPr>
            <a:r>
              <a:rPr dirty="0"/>
              <a:t>participants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143000"/>
            <a:ext cx="2514600" cy="105156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1261872"/>
            <a:ext cx="233172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400" b="1">
                <a:solidFill>
                  <a:srgbClr val="00918F"/>
                </a:solidFill>
                <a:latin typeface="Aptos"/>
              </a:defRPr>
            </a:pPr>
            <a:r>
              <a:t>~500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737360"/>
            <a:ext cx="23317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100" b="0">
                <a:solidFill>
                  <a:srgbClr val="5C6C7E"/>
                </a:solidFill>
                <a:latin typeface="Aptos"/>
              </a:defRPr>
            </a:pPr>
            <a:r>
              <a:t>samples / recording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59" y="1143000"/>
            <a:ext cx="2514600" cy="105156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72599" y="1261872"/>
            <a:ext cx="233172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400" b="1">
                <a:solidFill>
                  <a:srgbClr val="00918F"/>
                </a:solidFill>
                <a:latin typeface="Aptos"/>
              </a:defRPr>
            </a:pPr>
            <a:r>
              <a:t>50 Hz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599" y="1737360"/>
            <a:ext cx="23317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100" b="0">
                <a:solidFill>
                  <a:srgbClr val="5C6C7E"/>
                </a:solidFill>
                <a:latin typeface="Aptos"/>
              </a:defRPr>
            </a:pPr>
            <a:r>
              <a:t>nominal rate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606040"/>
            <a:ext cx="3429000" cy="132588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2715768"/>
            <a:ext cx="64008" cy="1106424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2752344"/>
            <a:ext cx="31089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22039"/>
                </a:solidFill>
                <a:latin typeface="Aptos"/>
              </a:defRPr>
            </a:pPr>
            <a:r>
              <a:t>Timestamp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172968"/>
            <a:ext cx="3108960" cy="6675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23042"/>
                </a:solidFill>
                <a:latin typeface="Aptos"/>
              </a:defRPr>
            </a:pPr>
            <a:r>
              <a:t>Time_ms — used to inspect timing and intervals.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2606040"/>
            <a:ext cx="3429000" cy="132588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89120" y="2715768"/>
            <a:ext cx="64008" cy="1106424"/>
          </a:xfrm>
          <a:prstGeom prst="rect">
            <a:avLst/>
          </a:prstGeom>
          <a:solidFill>
            <a:srgbClr val="2E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0" y="2752344"/>
            <a:ext cx="31089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22039"/>
                </a:solidFill>
                <a:latin typeface="Aptos"/>
              </a:defRPr>
            </a:pPr>
            <a:r>
              <a:t>Accelerometer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172968"/>
            <a:ext cx="3108960" cy="6675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23042"/>
                </a:solidFill>
                <a:latin typeface="Aptos"/>
              </a:defRPr>
            </a:pPr>
            <a:r>
              <a:t>AccelX/Y/Z_g — acceleration in 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2606040"/>
            <a:ext cx="3429000" cy="132588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92440" y="2715768"/>
            <a:ext cx="64008" cy="1106424"/>
          </a:xfrm>
          <a:prstGeom prst="rect">
            <a:avLst/>
          </a:prstGeom>
          <a:solidFill>
            <a:srgbClr val="E2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75319" y="2752344"/>
            <a:ext cx="31089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22039"/>
                </a:solidFill>
                <a:latin typeface="Aptos"/>
              </a:defRPr>
            </a:pPr>
            <a:r>
              <a:t>Gyroscope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3172968"/>
            <a:ext cx="3108960" cy="6675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23042"/>
                </a:solidFill>
                <a:latin typeface="Aptos"/>
              </a:defRPr>
            </a:pPr>
            <a:r>
              <a:t>GyroX/Y/Z_dps — angular velocity in degrees/second.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297680"/>
            <a:ext cx="512064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"/>
              </a:defRPr>
            </a:pPr>
            <a:r>
              <a:t>Quality checks to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754880"/>
            <a:ext cx="5212080" cy="10515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23042"/>
                </a:solidFill>
                <a:latin typeface="Aptos"/>
              </a:defRPr>
            </a:pPr>
            <a:r>
              <a:t>• Missing / infinite values</a:t>
            </a:r>
            <a:br/>
            <a:r>
              <a:t>• Duplicate timestamps and irregular intervals</a:t>
            </a:r>
            <a:br/>
            <a:r>
              <a:t>• Constant channels, abrupt cutoffs and extreme values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4343400"/>
            <a:ext cx="5074920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46520" y="4813578"/>
            <a:ext cx="4800600" cy="34163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defRPr sz="1500" b="1">
                <a:solidFill>
                  <a:srgbClr val="122039"/>
                </a:solidFill>
                <a:latin typeface="Aptos"/>
              </a:defRPr>
            </a:pPr>
            <a:r>
              <a:rPr dirty="0">
                <a:highlight>
                  <a:srgbClr val="FF0000"/>
                </a:highlight>
              </a:rPr>
              <a:t>[ VERIFIED DATASET SUMMARY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256032"/>
            <a:ext cx="98755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700" b="1">
                <a:solidFill>
                  <a:srgbClr val="122039"/>
                </a:solidFill>
                <a:latin typeface="Aptos"/>
              </a:defRPr>
            </a:pPr>
            <a:r>
              <a:t>Computational workflow and signal exploration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0040"/>
            <a:ext cx="1645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00918F"/>
                </a:solidFill>
                <a:latin typeface="Aptos"/>
              </a:defRPr>
            </a:pPr>
            <a:r>
              <a:t>EDA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800" b="0">
                <a:solidFill>
                  <a:srgbClr val="5C6C7E"/>
                </a:solidFill>
                <a:latin typeface="Aptos"/>
              </a:defRPr>
            </a:pPr>
            <a:r>
              <a:t>WEARABLE IMU  •  EXPLORATORY COMPUTATIONAL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0">
                <a:solidFill>
                  <a:srgbClr val="5C6C7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35455"/>
            <a:ext cx="6492240" cy="41605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546780"/>
            <a:ext cx="6217920" cy="34163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defRPr sz="1500" b="1">
                <a:solidFill>
                  <a:srgbClr val="122039"/>
                </a:solidFill>
                <a:latin typeface="Aptos"/>
              </a:defRPr>
            </a:pPr>
            <a:r>
              <a:rPr dirty="0">
                <a:highlight>
                  <a:srgbClr val="FF0000"/>
                </a:highlight>
              </a:rPr>
              <a:t>[ SIX-CHANNEL TIME-SERIES PLOT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260750"/>
            <a:ext cx="6163055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000" b="0">
                <a:solidFill>
                  <a:srgbClr val="5C6C7E"/>
                </a:solidFill>
                <a:latin typeface="Aptos"/>
              </a:defRPr>
            </a:pPr>
            <a:r>
              <a:t>Use real recording ID, units, time axis and channel labels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62087" y="1664207"/>
            <a:ext cx="3931920" cy="114300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562087" y="1773934"/>
            <a:ext cx="64008" cy="923544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44967" y="1810511"/>
            <a:ext cx="361187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22039"/>
                </a:solidFill>
                <a:latin typeface="Aptos"/>
              </a:defRPr>
            </a:pPr>
            <a:r>
              <a:t>Inspect patterns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4967" y="2231134"/>
            <a:ext cx="3611879" cy="484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23042"/>
                </a:solidFill>
                <a:latin typeface="Aptos"/>
              </a:defRPr>
            </a:pPr>
            <a:r>
              <a:t>Variation, spikes, plateaus and changes over 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62087" y="3035807"/>
            <a:ext cx="3931920" cy="114300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562087" y="3145535"/>
            <a:ext cx="64008" cy="923544"/>
          </a:xfrm>
          <a:prstGeom prst="rect">
            <a:avLst/>
          </a:prstGeom>
          <a:solidFill>
            <a:srgbClr val="2E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44967" y="3182111"/>
            <a:ext cx="361187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22039"/>
                </a:solidFill>
                <a:latin typeface="Aptos"/>
              </a:defRPr>
            </a:pPr>
            <a:r>
              <a:t>Check orientation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7" y="3602735"/>
            <a:ext cx="3611879" cy="484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23042"/>
                </a:solidFill>
                <a:latin typeface="Aptos"/>
              </a:defRPr>
            </a:pPr>
            <a:r>
              <a:t>Gravity direction and sensor mounting affect channel values.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62087" y="4407407"/>
            <a:ext cx="3931920" cy="114300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562087" y="4517135"/>
            <a:ext cx="64008" cy="923544"/>
          </a:xfrm>
          <a:prstGeom prst="rect">
            <a:avLst/>
          </a:prstGeom>
          <a:solidFill>
            <a:srgbClr val="E2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44967" y="4553711"/>
            <a:ext cx="361187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22039"/>
                </a:solidFill>
                <a:latin typeface="Aptos"/>
              </a:defRPr>
            </a:pPr>
            <a:r>
              <a:t>Flag uncertainty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44967" y="4974335"/>
            <a:ext cx="3611879" cy="484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23042"/>
                </a:solidFill>
                <a:latin typeface="Aptos"/>
              </a:defRPr>
            </a:pPr>
            <a:r>
              <a:t>An extreme value may reflect movement or measurement artefact.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8755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700" b="1">
                <a:solidFill>
                  <a:srgbClr val="122039"/>
                </a:solidFill>
                <a:latin typeface="Aptos"/>
              </a:defRPr>
            </a:pPr>
            <a:r>
              <a:t>Signal processing and feature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0040"/>
            <a:ext cx="1645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00918F"/>
                </a:solidFill>
                <a:latin typeface="Aptos"/>
              </a:defRPr>
            </a:pPr>
            <a:r>
              <a:t>REPRESENTATION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800" b="0">
                <a:solidFill>
                  <a:srgbClr val="5C6C7E"/>
                </a:solidFill>
                <a:latin typeface="Aptos"/>
              </a:defRPr>
            </a:pPr>
            <a:r>
              <a:t>WEARABLE IMU  •  EXPLORATORY COMPUTATIONAL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0">
                <a:solidFill>
                  <a:srgbClr val="5C6C7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143000"/>
            <a:ext cx="3337560" cy="123444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252728"/>
            <a:ext cx="64008" cy="1014984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289304"/>
            <a:ext cx="30175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"/>
              </a:defRPr>
            </a:pPr>
            <a:r>
              <a:t>Raw 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709928"/>
            <a:ext cx="3017520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223042"/>
                </a:solidFill>
                <a:latin typeface="Aptos"/>
              </a:defRPr>
            </a:pPr>
            <a:r>
              <a:t>Six channels + timestamps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417320"/>
            <a:ext cx="4572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600" b="1">
                <a:solidFill>
                  <a:srgbClr val="00918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1143000"/>
            <a:ext cx="2926080" cy="123444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617720" y="1252728"/>
            <a:ext cx="64008" cy="1014984"/>
          </a:xfrm>
          <a:prstGeom prst="rect">
            <a:avLst/>
          </a:prstGeom>
          <a:solidFill>
            <a:srgbClr val="2E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00600" y="1289304"/>
            <a:ext cx="260604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"/>
              </a:defRPr>
            </a:pPr>
            <a:r>
              <a:t>Windowing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709928"/>
            <a:ext cx="2606040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223042"/>
                </a:solidFill>
                <a:latin typeface="Aptos"/>
              </a:defRPr>
            </a:pPr>
            <a:r>
              <a:t>Fixed-length segments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1417320"/>
            <a:ext cx="4572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600" b="1">
                <a:solidFill>
                  <a:srgbClr val="00918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143000"/>
            <a:ext cx="3291840" cy="123444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1252728"/>
            <a:ext cx="64008" cy="1014984"/>
          </a:xfrm>
          <a:prstGeom prst="rect">
            <a:avLst/>
          </a:prstGeom>
          <a:solidFill>
            <a:srgbClr val="E2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0" y="1289304"/>
            <a:ext cx="29718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"/>
              </a:defRPr>
            </a:pPr>
            <a:r>
              <a:t>Feature 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709928"/>
            <a:ext cx="2971800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223042"/>
                </a:solidFill>
                <a:latin typeface="Aptos"/>
              </a:defRPr>
            </a:pPr>
            <a:r>
              <a:t>Numerical descriptors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2834640"/>
            <a:ext cx="5303520" cy="109728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2944368"/>
            <a:ext cx="64008" cy="877824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2980944"/>
            <a:ext cx="498348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22039"/>
                </a:solidFill>
                <a:latin typeface="Aptos"/>
              </a:defRPr>
            </a:pPr>
            <a:r>
              <a:t>Time-domain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401568"/>
            <a:ext cx="498348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23042"/>
                </a:solidFill>
                <a:latin typeface="Aptos"/>
              </a:defRPr>
            </a:pPr>
            <a:r>
              <a:t>Mean • variance • min/max • peak-to-peak • RMS • energy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834640"/>
            <a:ext cx="5303520" cy="109728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2944368"/>
            <a:ext cx="64008" cy="877824"/>
          </a:xfrm>
          <a:prstGeom prst="rect">
            <a:avLst/>
          </a:prstGeom>
          <a:solidFill>
            <a:srgbClr val="2E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2980944"/>
            <a:ext cx="498348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22039"/>
                </a:solidFill>
                <a:latin typeface="Aptos"/>
              </a:defRPr>
            </a:pPr>
            <a:r>
              <a:t>Magnitude features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401568"/>
            <a:ext cx="498348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23042"/>
                </a:solidFill>
                <a:latin typeface="Aptos"/>
              </a:defRPr>
            </a:pPr>
            <a:r>
              <a:t>Acceleration and gyroscope vector norms; magnitude variability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251960"/>
            <a:ext cx="5303520" cy="109728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85800" y="4361688"/>
            <a:ext cx="64008" cy="877824"/>
          </a:xfrm>
          <a:prstGeom prst="rect">
            <a:avLst/>
          </a:prstGeom>
          <a:solidFill>
            <a:srgbClr val="E2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4398264"/>
            <a:ext cx="498348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22039"/>
                </a:solidFill>
                <a:latin typeface="Aptos"/>
              </a:defRPr>
            </a:pPr>
            <a:r>
              <a:t>Frequency-domain features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818888"/>
            <a:ext cx="498348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23042"/>
                </a:solidFill>
                <a:latin typeface="Aptos"/>
              </a:defRPr>
            </a:pPr>
            <a:r>
              <a:t>Dominant frequency • spectral energy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251960"/>
            <a:ext cx="5303520" cy="109728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17920" y="4361688"/>
            <a:ext cx="64008" cy="877824"/>
          </a:xfrm>
          <a:prstGeom prst="rect">
            <a:avLst/>
          </a:prstGeom>
          <a:solidFill>
            <a:srgbClr val="2F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0" y="4398264"/>
            <a:ext cx="498348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22039"/>
                </a:solidFill>
                <a:latin typeface="Aptos"/>
              </a:defRPr>
            </a:pPr>
            <a:r>
              <a:t>Cross-channel features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818888"/>
            <a:ext cx="498348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23042"/>
                </a:solidFill>
                <a:latin typeface="Aptos"/>
              </a:defRPr>
            </a:pPr>
            <a:r>
              <a:t>Axis correlations and selected channel relationships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715000"/>
            <a:ext cx="10515600" cy="28007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100" b="1">
                <a:solidFill>
                  <a:srgbClr val="B34141"/>
                </a:solidFill>
                <a:latin typeface="Aptos"/>
              </a:defRPr>
            </a:pPr>
            <a:r>
              <a:rPr dirty="0">
                <a:highlight>
                  <a:srgbClr val="FF0000"/>
                </a:highlight>
              </a:rPr>
              <a:t>[ HUMAN INPUT: insert confirmed window length, overlap and final feature count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8755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700" b="1">
                <a:solidFill>
                  <a:srgbClr val="122039"/>
                </a:solidFill>
                <a:latin typeface="Aptos"/>
              </a:defRPr>
            </a:pPr>
            <a:r>
              <a:t>Statistical analysis: comparing left and right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0040"/>
            <a:ext cx="1645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00918F"/>
                </a:solidFill>
                <a:latin typeface="Aptos"/>
              </a:defRPr>
            </a:pPr>
            <a:r>
              <a:t>INFERENCE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800" b="0">
                <a:solidFill>
                  <a:srgbClr val="5C6C7E"/>
                </a:solidFill>
                <a:latin typeface="Aptos"/>
              </a:defRPr>
            </a:pPr>
            <a:r>
              <a:t>WEARABLE IMU  •  EXPLORATORY COMPUTATIONAL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0">
                <a:solidFill>
                  <a:srgbClr val="5C6C7E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1554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1">
                <a:solidFill>
                  <a:srgbClr val="122039"/>
                </a:solidFill>
                <a:latin typeface="Aptos"/>
              </a:defRPr>
            </a:pPr>
            <a:r>
              <a:t>Participant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124712"/>
            <a:ext cx="1417320" cy="566928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86000" y="1234440"/>
            <a:ext cx="64008" cy="347472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68880" y="1271016"/>
            <a:ext cx="109728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00" b="1">
                <a:solidFill>
                  <a:srgbClr val="122039"/>
                </a:solidFill>
                <a:latin typeface="Aptos"/>
              </a:defRPr>
            </a:pPr>
            <a:r>
              <a:t>Left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1691640"/>
            <a:ext cx="1097280" cy="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000" b="0">
                <a:solidFill>
                  <a:srgbClr val="223042"/>
                </a:solidFill>
                <a:latin typeface="Aptos"/>
              </a:defRPr>
            </a:pPr>
            <a:r>
              <a:t>Feature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1124712"/>
            <a:ext cx="1417320" cy="566928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86200" y="1234440"/>
            <a:ext cx="64008" cy="347472"/>
          </a:xfrm>
          <a:prstGeom prst="rect">
            <a:avLst/>
          </a:prstGeom>
          <a:solidFill>
            <a:srgbClr val="2E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69080" y="1271016"/>
            <a:ext cx="109728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00" b="1">
                <a:solidFill>
                  <a:srgbClr val="122039"/>
                </a:solidFill>
                <a:latin typeface="Aptos"/>
              </a:defRPr>
            </a:pPr>
            <a:r>
              <a:t>Right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1691640"/>
            <a:ext cx="1097280" cy="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000" b="0">
                <a:solidFill>
                  <a:srgbClr val="223042"/>
                </a:solidFill>
                <a:latin typeface="Aptos"/>
              </a:defRPr>
            </a:pPr>
            <a:r>
              <a:t>Feature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1234440"/>
            <a:ext cx="4114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000" b="1">
                <a:solidFill>
                  <a:srgbClr val="00918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1234440"/>
            <a:ext cx="20574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1">
                <a:solidFill>
                  <a:srgbClr val="223042"/>
                </a:solidFill>
                <a:latin typeface="Aptos"/>
              </a:defRPr>
            </a:pPr>
            <a:r>
              <a:t>Within-person difference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148840"/>
            <a:ext cx="1554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1">
                <a:solidFill>
                  <a:srgbClr val="122039"/>
                </a:solidFill>
                <a:latin typeface="Aptos"/>
              </a:defRPr>
            </a:pPr>
            <a:r>
              <a:t>Participant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2039112"/>
            <a:ext cx="1417320" cy="566928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286000" y="2148840"/>
            <a:ext cx="64008" cy="347472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468880" y="2185416"/>
            <a:ext cx="109728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00" b="1">
                <a:solidFill>
                  <a:srgbClr val="122039"/>
                </a:solidFill>
                <a:latin typeface="Aptos"/>
              </a:defRPr>
            </a:pPr>
            <a:r>
              <a:t>Left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2606040"/>
            <a:ext cx="1097280" cy="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000" b="0">
                <a:solidFill>
                  <a:srgbClr val="223042"/>
                </a:solidFill>
                <a:latin typeface="Aptos"/>
              </a:defRPr>
            </a:pPr>
            <a:r>
              <a:t>Feature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86200" y="2039112"/>
            <a:ext cx="1417320" cy="566928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886200" y="2148840"/>
            <a:ext cx="64008" cy="347472"/>
          </a:xfrm>
          <a:prstGeom prst="rect">
            <a:avLst/>
          </a:prstGeom>
          <a:solidFill>
            <a:srgbClr val="2E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069080" y="2185416"/>
            <a:ext cx="109728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00" b="1">
                <a:solidFill>
                  <a:srgbClr val="122039"/>
                </a:solidFill>
                <a:latin typeface="Aptos"/>
              </a:defRPr>
            </a:pPr>
            <a:r>
              <a:t>Right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9080" y="2606040"/>
            <a:ext cx="1097280" cy="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000" b="0">
                <a:solidFill>
                  <a:srgbClr val="223042"/>
                </a:solidFill>
                <a:latin typeface="Aptos"/>
              </a:defRPr>
            </a:pPr>
            <a:r>
              <a:t>Feature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2148840"/>
            <a:ext cx="4114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000" b="1">
                <a:solidFill>
                  <a:srgbClr val="00918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2148840"/>
            <a:ext cx="20574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1">
                <a:solidFill>
                  <a:srgbClr val="223042"/>
                </a:solidFill>
                <a:latin typeface="Aptos"/>
              </a:defRPr>
            </a:pPr>
            <a:r>
              <a:t>Within-person difference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063240"/>
            <a:ext cx="1554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1">
                <a:solidFill>
                  <a:srgbClr val="122039"/>
                </a:solidFill>
                <a:latin typeface="Aptos"/>
              </a:defRPr>
            </a:pPr>
            <a:r>
              <a:t>Participant 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86000" y="2953512"/>
            <a:ext cx="1417320" cy="566928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286000" y="3063240"/>
            <a:ext cx="64008" cy="347472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468880" y="3099816"/>
            <a:ext cx="109728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00" b="1">
                <a:solidFill>
                  <a:srgbClr val="122039"/>
                </a:solidFill>
                <a:latin typeface="Aptos"/>
              </a:defRPr>
            </a:pPr>
            <a:r>
              <a:t>Left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8880" y="3520440"/>
            <a:ext cx="1097280" cy="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000" b="0">
                <a:solidFill>
                  <a:srgbClr val="223042"/>
                </a:solidFill>
                <a:latin typeface="Aptos"/>
              </a:defRPr>
            </a:pPr>
            <a:r>
              <a:t>Feature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86200" y="2953512"/>
            <a:ext cx="1417320" cy="566928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886200" y="3063240"/>
            <a:ext cx="64008" cy="347472"/>
          </a:xfrm>
          <a:prstGeom prst="rect">
            <a:avLst/>
          </a:prstGeom>
          <a:solidFill>
            <a:srgbClr val="2E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069080" y="3099816"/>
            <a:ext cx="109728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00" b="1">
                <a:solidFill>
                  <a:srgbClr val="122039"/>
                </a:solidFill>
                <a:latin typeface="Aptos"/>
              </a:defRPr>
            </a:pPr>
            <a:r>
              <a:t>Right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69080" y="3520440"/>
            <a:ext cx="1097280" cy="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000" b="0">
                <a:solidFill>
                  <a:srgbClr val="223042"/>
                </a:solidFill>
                <a:latin typeface="Aptos"/>
              </a:defRPr>
            </a:pPr>
            <a:r>
              <a:t>Feature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063240"/>
            <a:ext cx="4114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000" b="1">
                <a:solidFill>
                  <a:srgbClr val="00918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9320" y="3063240"/>
            <a:ext cx="20574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1">
                <a:solidFill>
                  <a:srgbClr val="223042"/>
                </a:solidFill>
                <a:latin typeface="Aptos"/>
              </a:defRPr>
            </a:pPr>
            <a:r>
              <a:t>Within-person difference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3977639"/>
            <a:ext cx="15544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1">
                <a:solidFill>
                  <a:srgbClr val="122039"/>
                </a:solidFill>
                <a:latin typeface="Aptos"/>
              </a:defRPr>
            </a:pPr>
            <a:r>
              <a:t>Participant 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286000" y="3867911"/>
            <a:ext cx="1417320" cy="566928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286000" y="3977639"/>
            <a:ext cx="64008" cy="347472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468880" y="4014215"/>
            <a:ext cx="109728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00" b="1">
                <a:solidFill>
                  <a:srgbClr val="122039"/>
                </a:solidFill>
                <a:latin typeface="Aptos"/>
              </a:defRPr>
            </a:pPr>
            <a:r>
              <a:t>Left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68880" y="4434840"/>
            <a:ext cx="1097280" cy="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000" b="0">
                <a:solidFill>
                  <a:srgbClr val="223042"/>
                </a:solidFill>
                <a:latin typeface="Aptos"/>
              </a:defRPr>
            </a:pPr>
            <a:r>
              <a:t>Feature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86200" y="3867911"/>
            <a:ext cx="1417320" cy="566928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886200" y="3977639"/>
            <a:ext cx="64008" cy="347472"/>
          </a:xfrm>
          <a:prstGeom prst="rect">
            <a:avLst/>
          </a:prstGeom>
          <a:solidFill>
            <a:srgbClr val="2E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069080" y="4014215"/>
            <a:ext cx="109728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00" b="1">
                <a:solidFill>
                  <a:srgbClr val="122039"/>
                </a:solidFill>
                <a:latin typeface="Aptos"/>
              </a:defRPr>
            </a:pPr>
            <a:r>
              <a:t>Right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69080" y="4434840"/>
            <a:ext cx="1097280" cy="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000" b="0">
                <a:solidFill>
                  <a:srgbClr val="223042"/>
                </a:solidFill>
                <a:latin typeface="Aptos"/>
              </a:defRPr>
            </a:pPr>
            <a:r>
              <a:t>Feature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3977639"/>
            <a:ext cx="4114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2000" b="1">
                <a:solidFill>
                  <a:srgbClr val="00918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89320" y="3977639"/>
            <a:ext cx="20574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1">
                <a:solidFill>
                  <a:srgbClr val="223042"/>
                </a:solidFill>
                <a:latin typeface="Aptos"/>
              </a:defRPr>
            </a:pPr>
            <a:r>
              <a:t>Within-person difference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412480" y="1234440"/>
            <a:ext cx="3017520" cy="114300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412480" y="1344168"/>
            <a:ext cx="64008" cy="923544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595359" y="1380744"/>
            <a:ext cx="269747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122039"/>
                </a:solidFill>
                <a:latin typeface="Aptos"/>
              </a:defRPr>
            </a:pPr>
            <a:r>
              <a:t>Paired inference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95359" y="1801368"/>
            <a:ext cx="2697479" cy="484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23042"/>
                </a:solidFill>
                <a:latin typeface="Aptos"/>
              </a:defRPr>
            </a:pPr>
            <a:r>
              <a:t>Compare legs within each participant.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412480" y="2651760"/>
            <a:ext cx="3017520" cy="114300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412480" y="2761488"/>
            <a:ext cx="64008" cy="923544"/>
          </a:xfrm>
          <a:prstGeom prst="rect">
            <a:avLst/>
          </a:prstGeom>
          <a:solidFill>
            <a:srgbClr val="2E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595359" y="2798064"/>
            <a:ext cx="269747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122039"/>
                </a:solidFill>
                <a:latin typeface="Aptos"/>
              </a:defRPr>
            </a:pPr>
            <a:r>
              <a:t>Uncertainty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59" y="3218688"/>
            <a:ext cx="2697479" cy="484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23042"/>
                </a:solidFill>
                <a:latin typeface="Aptos"/>
              </a:defRPr>
            </a:pPr>
            <a:r>
              <a:t>Effect sizes and confidence intervals.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412480" y="4069080"/>
            <a:ext cx="3017520" cy="114300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412480" y="4178808"/>
            <a:ext cx="64008" cy="923544"/>
          </a:xfrm>
          <a:prstGeom prst="rect">
            <a:avLst/>
          </a:prstGeom>
          <a:solidFill>
            <a:srgbClr val="E2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595359" y="4215384"/>
            <a:ext cx="269747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122039"/>
                </a:solidFill>
                <a:latin typeface="Aptos"/>
              </a:defRPr>
            </a:pPr>
            <a:r>
              <a:t>Multiplicity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95359" y="4636008"/>
            <a:ext cx="2697479" cy="484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23042"/>
                </a:solidFill>
                <a:latin typeface="Aptos"/>
              </a:defRPr>
            </a:pPr>
            <a:r>
              <a:t>Correct for testing many features.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" y="5257800"/>
            <a:ext cx="71323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22039"/>
                </a:solidFill>
                <a:latin typeface="Aptos"/>
              </a:defRPr>
            </a:pPr>
            <a:r>
              <a:t>Why participant-level pairing?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60" y="5623560"/>
            <a:ext cx="713232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23042"/>
                </a:solidFill>
                <a:latin typeface="Aptos"/>
              </a:defRPr>
            </a:pPr>
            <a:r>
              <a:t>Windows and samples from one person are not independent participants.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12480" y="5486400"/>
            <a:ext cx="3017520" cy="2646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000" b="1">
                <a:solidFill>
                  <a:srgbClr val="B34141"/>
                </a:solidFill>
                <a:latin typeface="Aptos"/>
              </a:defRPr>
            </a:pPr>
            <a:r>
              <a:rPr dirty="0">
                <a:highlight>
                  <a:srgbClr val="FF0000"/>
                </a:highlight>
              </a:rPr>
              <a:t>[ INSERT VERIFIED N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8755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700" b="1">
                <a:solidFill>
                  <a:srgbClr val="122039"/>
                </a:solidFill>
                <a:latin typeface="Aptos"/>
              </a:defRPr>
            </a:pPr>
            <a:r>
              <a:t>Exploratory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0040"/>
            <a:ext cx="1645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00918F"/>
                </a:solidFill>
                <a:latin typeface="Aptos"/>
              </a:defRPr>
            </a:pPr>
            <a:r>
              <a:t>UNSUPERVISED /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800" b="0">
                <a:solidFill>
                  <a:srgbClr val="5C6C7E"/>
                </a:solidFill>
                <a:latin typeface="Aptos"/>
              </a:defRPr>
            </a:pPr>
            <a:r>
              <a:t>WEARABLE IMU  •  EXPLORATORY COMPUTATIONAL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0">
                <a:solidFill>
                  <a:srgbClr val="5C6C7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097280"/>
            <a:ext cx="2651760" cy="132588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207007"/>
            <a:ext cx="64008" cy="1106424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243584"/>
            <a:ext cx="23317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"/>
              </a:defRPr>
            </a:pPr>
            <a:r>
              <a:t>PCA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664207"/>
            <a:ext cx="2331720" cy="6675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23042"/>
                </a:solidFill>
                <a:latin typeface="Aptos"/>
              </a:defRPr>
            </a:pPr>
            <a:r>
              <a:t>Summarize variation in feature space.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1097280"/>
            <a:ext cx="2651760" cy="132588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20440" y="1207007"/>
            <a:ext cx="64008" cy="1106424"/>
          </a:xfrm>
          <a:prstGeom prst="rect">
            <a:avLst/>
          </a:prstGeom>
          <a:solidFill>
            <a:srgbClr val="2E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03320" y="1243584"/>
            <a:ext cx="23317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"/>
              </a:defRPr>
            </a:pPr>
            <a:r>
              <a:t>Clustering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1664207"/>
            <a:ext cx="2331720" cy="6675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23042"/>
                </a:solidFill>
                <a:latin typeface="Aptos"/>
              </a:defRPr>
            </a:pPr>
            <a:r>
              <a:t>Explore whether feature vectors group together.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097280"/>
            <a:ext cx="2651760" cy="132588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55080" y="1207007"/>
            <a:ext cx="64008" cy="1106424"/>
          </a:xfrm>
          <a:prstGeom prst="rect">
            <a:avLst/>
          </a:prstGeom>
          <a:solidFill>
            <a:srgbClr val="E2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243584"/>
            <a:ext cx="23317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"/>
              </a:defRPr>
            </a:pPr>
            <a:r>
              <a:t>Anomaly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664207"/>
            <a:ext cx="2331720" cy="6675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23042"/>
                </a:solidFill>
                <a:latin typeface="Aptos"/>
              </a:defRPr>
            </a:pPr>
            <a:r>
              <a:t>Flag windows unusual under a chosen model.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1097280"/>
            <a:ext cx="2331720" cy="132588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89720" y="1207007"/>
            <a:ext cx="64008" cy="1106424"/>
          </a:xfrm>
          <a:prstGeom prst="rect">
            <a:avLst/>
          </a:prstGeom>
          <a:solidFill>
            <a:srgbClr val="2F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72600" y="1243584"/>
            <a:ext cx="2011679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"/>
              </a:defRPr>
            </a:pPr>
            <a:r>
              <a:t>Classification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1664207"/>
            <a:ext cx="2011679" cy="6675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23042"/>
                </a:solidFill>
                <a:latin typeface="Aptos"/>
              </a:defRPr>
            </a:pPr>
            <a:r>
              <a:t>Test left/right predictability cautiously.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2834640"/>
            <a:ext cx="530352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3553535"/>
            <a:ext cx="5029200" cy="34163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defRPr sz="1500" b="1">
                <a:solidFill>
                  <a:srgbClr val="122039"/>
                </a:solidFill>
                <a:latin typeface="Aptos"/>
              </a:defRPr>
            </a:pPr>
            <a:r>
              <a:rPr dirty="0">
                <a:highlight>
                  <a:srgbClr val="FF0000"/>
                </a:highlight>
              </a:rPr>
              <a:t>[ PCA / CLUSTERING FIGURE 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880713"/>
            <a:ext cx="4974336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000" b="0">
                <a:solidFill>
                  <a:srgbClr val="5C6C7E"/>
                </a:solidFill>
                <a:latin typeface="Aptos"/>
              </a:defRPr>
            </a:pPr>
            <a:r>
              <a:rPr dirty="0"/>
              <a:t>Use actual saved coordinates, labels and metrics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834640"/>
            <a:ext cx="525780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55080" y="3553535"/>
            <a:ext cx="4983480" cy="34163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defRPr sz="1500" b="1">
                <a:solidFill>
                  <a:srgbClr val="122039"/>
                </a:solidFill>
                <a:latin typeface="Aptos"/>
              </a:defRPr>
            </a:pPr>
            <a:r>
              <a:rPr dirty="0">
                <a:highlight>
                  <a:srgbClr val="FF0000"/>
                </a:highlight>
              </a:rPr>
              <a:t>[ MODEL EVALUATION PLOT 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3880713"/>
            <a:ext cx="4928616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000" b="0">
                <a:solidFill>
                  <a:srgbClr val="5C6C7E"/>
                </a:solidFill>
                <a:latin typeface="Aptos"/>
              </a:defRPr>
            </a:pPr>
            <a:r>
              <a:t>Insert participant-level validation results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257800"/>
            <a:ext cx="1060704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200" b="1">
                <a:solidFill>
                  <a:srgbClr val="B34141"/>
                </a:solidFill>
                <a:latin typeface="Aptos"/>
              </a:defRPr>
            </a:pPr>
            <a:r>
              <a:t>Interpretation: exploratory structure or unusual windows do not by themselves establish biological categories or abnormal gait.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256032"/>
            <a:ext cx="98755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700" b="1">
                <a:solidFill>
                  <a:srgbClr val="122039"/>
                </a:solidFill>
                <a:latin typeface="Aptos"/>
              </a:defRPr>
            </a:pPr>
            <a:r>
              <a:t>Key findings, limitations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320040"/>
            <a:ext cx="1645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00918F"/>
                </a:solidFill>
                <a:latin typeface="Aptos"/>
              </a:defRPr>
            </a:pPr>
            <a:r>
              <a:t>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800" b="0">
                <a:solidFill>
                  <a:srgbClr val="5C6C7E"/>
                </a:solidFill>
                <a:latin typeface="Aptos"/>
              </a:defRPr>
            </a:pPr>
            <a:r>
              <a:t>WEARABLE IMU  •  EXPLORATORY COMPUTATIONAL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029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0">
                <a:solidFill>
                  <a:srgbClr val="5C6C7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" y="1623060"/>
            <a:ext cx="3520440" cy="361188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04088" y="1732787"/>
            <a:ext cx="64008" cy="3392424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7" y="1769364"/>
            <a:ext cx="32004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"/>
              </a:defRPr>
            </a:pPr>
            <a:r>
              <a:t>What the data supports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7" y="2189987"/>
            <a:ext cx="3200400" cy="118801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400" b="0">
                <a:solidFill>
                  <a:srgbClr val="223042"/>
                </a:solidFill>
                <a:latin typeface="Aptos"/>
              </a:defRPr>
            </a:pPr>
            <a:r>
              <a:rPr dirty="0">
                <a:highlight>
                  <a:srgbClr val="FF0000"/>
                </a:highlight>
              </a:rPr>
              <a:t>[ INSERT 2–3 VERIFIED FINDINGS ]</a:t>
            </a:r>
            <a:br>
              <a:rPr dirty="0">
                <a:highlight>
                  <a:srgbClr val="FF0000"/>
                </a:highlight>
              </a:rPr>
            </a:br>
            <a:br>
              <a:rPr dirty="0">
                <a:highlight>
                  <a:srgbClr val="FF0000"/>
                </a:highlight>
              </a:rPr>
            </a:br>
            <a:r>
              <a:rPr dirty="0">
                <a:highlight>
                  <a:srgbClr val="FF0000"/>
                </a:highlight>
              </a:rPr>
              <a:t>• What did the signal plots show?</a:t>
            </a:r>
            <a:br>
              <a:rPr dirty="0">
                <a:highlight>
                  <a:srgbClr val="FF0000"/>
                </a:highlight>
              </a:rPr>
            </a:br>
            <a:r>
              <a:rPr dirty="0">
                <a:highlight>
                  <a:srgbClr val="FF0000"/>
                </a:highlight>
              </a:rPr>
              <a:t>• What did the paired analysis show?</a:t>
            </a:r>
            <a:br>
              <a:rPr dirty="0">
                <a:highlight>
                  <a:srgbClr val="FF0000"/>
                </a:highlight>
              </a:rPr>
            </a:br>
            <a:r>
              <a:rPr dirty="0">
                <a:highlight>
                  <a:srgbClr val="FF0000"/>
                </a:highlight>
              </a:rPr>
              <a:t>• What did exploratory ML reveal?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623060"/>
            <a:ext cx="3520440" cy="361188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07408" y="1732787"/>
            <a:ext cx="64008" cy="3392424"/>
          </a:xfrm>
          <a:prstGeom prst="rect">
            <a:avLst/>
          </a:prstGeom>
          <a:solidFill>
            <a:srgbClr val="E2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769364"/>
            <a:ext cx="32004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"/>
              </a:defRPr>
            </a:pPr>
            <a:r>
              <a:t>Current limitations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189987"/>
            <a:ext cx="3200400" cy="140346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300" b="0">
                <a:solidFill>
                  <a:srgbClr val="223042"/>
                </a:solidFill>
                <a:latin typeface="Aptos"/>
              </a:defRPr>
            </a:pPr>
            <a:r>
              <a:rPr sz="1400" dirty="0"/>
              <a:t>• Small participant cohort and short trials</a:t>
            </a:r>
            <a:br>
              <a:rPr sz="1400" dirty="0"/>
            </a:br>
            <a:r>
              <a:rPr sz="1400" dirty="0"/>
              <a:t>• Axis mapping / orientation uncertainty</a:t>
            </a:r>
            <a:br>
              <a:rPr sz="1400" dirty="0"/>
            </a:br>
            <a:r>
              <a:rPr sz="1400" dirty="0"/>
              <a:t>• Possible saturation or firmware clamping</a:t>
            </a:r>
            <a:br>
              <a:rPr sz="1400" dirty="0"/>
            </a:br>
            <a:r>
              <a:rPr sz="1400" dirty="0"/>
              <a:t>• No validated clinical ground truth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0728" y="1623060"/>
            <a:ext cx="3520440" cy="361188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10728" y="1732787"/>
            <a:ext cx="64008" cy="3392424"/>
          </a:xfrm>
          <a:prstGeom prst="rect">
            <a:avLst/>
          </a:prstGeom>
          <a:solidFill>
            <a:srgbClr val="2E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1769364"/>
            <a:ext cx="3200400" cy="37241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700" b="1">
                <a:solidFill>
                  <a:srgbClr val="122039"/>
                </a:solidFill>
                <a:latin typeface="Aptos"/>
              </a:defRPr>
            </a:pPr>
            <a:r>
              <a:rPr lang="en-IN" dirty="0"/>
              <a:t>Future Scope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8293608" y="2189987"/>
            <a:ext cx="3200400" cy="18343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300" b="0">
                <a:solidFill>
                  <a:srgbClr val="223042"/>
                </a:solidFill>
                <a:latin typeface="Aptos"/>
              </a:defRPr>
            </a:pPr>
            <a:r>
              <a:rPr sz="1400" dirty="0"/>
              <a:t>Longer, repeated trials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  <a:defRPr sz="1300" b="0">
                <a:solidFill>
                  <a:srgbClr val="223042"/>
                </a:solidFill>
                <a:latin typeface="Aptos"/>
              </a:defRPr>
            </a:pPr>
            <a:r>
              <a:rPr sz="1400" dirty="0"/>
              <a:t>Standardized mounting and </a:t>
            </a:r>
            <a:r>
              <a:rPr lang="en-IN" sz="1400" dirty="0"/>
              <a:t>better wearable apparatus.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300" b="0">
                <a:solidFill>
                  <a:srgbClr val="223042"/>
                </a:solidFill>
                <a:latin typeface="Aptos"/>
              </a:defRPr>
            </a:pPr>
            <a:r>
              <a:rPr sz="1400" dirty="0"/>
              <a:t>Expand participant cohort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  <a:defRPr sz="1300" b="0">
                <a:solidFill>
                  <a:srgbClr val="223042"/>
                </a:solidFill>
                <a:latin typeface="Aptos"/>
              </a:defRPr>
            </a:pPr>
            <a:r>
              <a:rPr lang="en-IN" sz="1400" dirty="0"/>
              <a:t>Need Variety of people (with minor or major injuries in legs) for better model training.</a:t>
            </a:r>
          </a:p>
          <a:p>
            <a:pPr marL="285750" indent="-285750">
              <a:buFont typeface="Arial" panose="020B0604020202020204" pitchFamily="34" charset="0"/>
              <a:buChar char="•"/>
              <a:defRPr sz="1300" b="0">
                <a:solidFill>
                  <a:srgbClr val="223042"/>
                </a:solidFill>
                <a:latin typeface="Aptos"/>
              </a:defRPr>
            </a:pPr>
            <a:endParaRPr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1069848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100" b="1">
                <a:solidFill>
                  <a:srgbClr val="6EDCD6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10058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From physical measurement to computational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9966960" cy="10972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900" b="0">
                <a:solidFill>
                  <a:srgbClr val="DCE6F1"/>
                </a:solidFill>
                <a:latin typeface="Aptos"/>
              </a:defRPr>
            </a:pPr>
            <a:r>
              <a:t>A documented pipeline transforms wearable IMU recordings into quality checks, interpretable features, participant-level comparisons and exploratory machine-learning outputs.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160520"/>
            <a:ext cx="4892040" cy="100584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4270248"/>
            <a:ext cx="64008" cy="786384"/>
          </a:xfrm>
          <a:prstGeom prst="rect">
            <a:avLst/>
          </a:prstGeom>
          <a:solidFill>
            <a:srgbClr val="00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4306824"/>
            <a:ext cx="45720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22039"/>
                </a:solidFill>
                <a:latin typeface="Aptos"/>
              </a:defRPr>
            </a:pPr>
            <a:r>
              <a:t>Main contribution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727448"/>
            <a:ext cx="45720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23042"/>
                </a:solidFill>
                <a:latin typeface="Aptos"/>
              </a:defRPr>
            </a:pPr>
            <a:r>
              <a:t>A transparent and reproducible analysis workflow.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4160520"/>
            <a:ext cx="4892040" cy="1005840"/>
          </a:xfrm>
          <a:prstGeom prst="roundRect">
            <a:avLst/>
          </a:prstGeom>
          <a:solidFill>
            <a:srgbClr val="EFF4FA"/>
          </a:solidFill>
          <a:ln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80760" y="4270248"/>
            <a:ext cx="64008" cy="786384"/>
          </a:xfrm>
          <a:prstGeom prst="rect">
            <a:avLst/>
          </a:prstGeom>
          <a:solidFill>
            <a:srgbClr val="E2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4306824"/>
            <a:ext cx="45720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1">
                <a:solidFill>
                  <a:srgbClr val="122039"/>
                </a:solidFill>
                <a:latin typeface="Aptos"/>
              </a:defRPr>
            </a:pPr>
            <a:r>
              <a:t>Scientific 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727448"/>
            <a:ext cx="45720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223042"/>
                </a:solidFill>
                <a:latin typeface="Aptos"/>
              </a:defRPr>
            </a:pPr>
            <a:r>
              <a:t>Current results are exploratory, not clinically validated.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715000"/>
            <a:ext cx="10332720" cy="38779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rPr dirty="0"/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DF5ECB37214B4B87F11B1441AED456" ma:contentTypeVersion="13" ma:contentTypeDescription="Create a new document." ma:contentTypeScope="" ma:versionID="a5a4425df3a9be02893e6c7acb50e95a">
  <xsd:schema xmlns:xsd="http://www.w3.org/2001/XMLSchema" xmlns:xs="http://www.w3.org/2001/XMLSchema" xmlns:p="http://schemas.microsoft.com/office/2006/metadata/properties" xmlns:ns3="50da979a-3f7f-4ede-82ec-74c74b3e66fc" xmlns:ns4="cbc9f405-9201-4a28-a90f-e702e71c4d25" targetNamespace="http://schemas.microsoft.com/office/2006/metadata/properties" ma:root="true" ma:fieldsID="64217f173dca879375e15a29ea33a423" ns3:_="" ns4:_="">
    <xsd:import namespace="50da979a-3f7f-4ede-82ec-74c74b3e66fc"/>
    <xsd:import namespace="cbc9f405-9201-4a28-a90f-e702e71c4d2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da979a-3f7f-4ede-82ec-74c74b3e66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c9f405-9201-4a28-a90f-e702e71c4d25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0da979a-3f7f-4ede-82ec-74c74b3e66fc" xsi:nil="true"/>
  </documentManagement>
</p:properties>
</file>

<file path=customXml/itemProps1.xml><?xml version="1.0" encoding="utf-8"?>
<ds:datastoreItem xmlns:ds="http://schemas.openxmlformats.org/officeDocument/2006/customXml" ds:itemID="{53FF4B82-6805-4510-9D1B-06921A69A7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0da979a-3f7f-4ede-82ec-74c74b3e66fc"/>
    <ds:schemaRef ds:uri="cbc9f405-9201-4a28-a90f-e702e71c4d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957BD3C-DE2A-4921-888C-8BA43F5B73A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44E80D9-C2E4-4A78-85BF-C4D7A41A528A}">
  <ds:schemaRefs>
    <ds:schemaRef ds:uri="http://purl.org/dc/dcmitype/"/>
    <ds:schemaRef ds:uri="50da979a-3f7f-4ede-82ec-74c74b3e66fc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elements/1.1/"/>
    <ds:schemaRef ds:uri="cbc9f405-9201-4a28-a90f-e702e71c4d25"/>
    <ds:schemaRef ds:uri="http://purl.org/dc/terms/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954</Words>
  <Application>Microsoft Office PowerPoint</Application>
  <PresentationFormat>Widescreen</PresentationFormat>
  <Paragraphs>203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Grishma Makwana</dc:creator>
  <cp:keywords/>
  <dc:description>generated using python-pptx</dc:description>
  <cp:lastModifiedBy>23BIT108GrishmaM</cp:lastModifiedBy>
  <cp:revision>3</cp:revision>
  <dcterms:created xsi:type="dcterms:W3CDTF">2013-01-27T09:14:16Z</dcterms:created>
  <dcterms:modified xsi:type="dcterms:W3CDTF">2026-10-25T18:23:51Z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0x01010054DF5ECB37214B4B87F11B1441AED456</vt:lpwstr>
  </property>
</Properties>
</file>